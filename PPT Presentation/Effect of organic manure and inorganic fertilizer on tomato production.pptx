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95" r:id="rId2"/>
    <p:sldId id="294" r:id="rId3"/>
    <p:sldId id="292" r:id="rId4"/>
    <p:sldId id="291" r:id="rId5"/>
    <p:sldId id="290" r:id="rId6"/>
    <p:sldId id="289" r:id="rId7"/>
    <p:sldId id="288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6" r:id="rId17"/>
    <p:sldId id="305" r:id="rId18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MSON DARRAH" initials="SD" lastIdx="2" clrIdx="0"/>
  <p:cmAuthor id="2" name="PHG" initials="P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50"/>
    <a:srgbClr val="0099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95" autoAdjust="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19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B3F5E3-3461-4487-8126-E903F4860895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24AB25-5EC3-4BEF-863E-68D9D645E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2CDBC7-CB1E-4207-9F5D-C07BD26638B7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6FD2C3-BED6-40EB-AA31-35D4B80CF04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nust.edu.gh/" TargetMode="External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facebook.com/knust.Ghana/" TargetMode="External"/><Relationship Id="rId5" Type="http://schemas.openxmlformats.org/officeDocument/2006/relationships/image" Target="../media/image2.jpeg"/><Relationship Id="rId4" Type="http://schemas.openxmlformats.org/officeDocument/2006/relationships/hyperlink" Target="https://twitter.com/_knust_" TargetMode="Externa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E89BE-64CF-49C6-B3ED-0B19ACF669F0}" type="datetime1">
              <a:rPr lang="en-US" smtClean="0"/>
              <a:t>3/28/2023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1"/>
            <a:ext cx="9144000" cy="854748"/>
            <a:chOff x="0" y="1"/>
            <a:chExt cx="9144000" cy="854748"/>
          </a:xfrm>
        </p:grpSpPr>
        <p:sp>
          <p:nvSpPr>
            <p:cNvPr id="8" name="Rectangle 7"/>
            <p:cNvSpPr/>
            <p:nvPr/>
          </p:nvSpPr>
          <p:spPr>
            <a:xfrm>
              <a:off x="0" y="1"/>
              <a:ext cx="9144000" cy="854748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487656" y="241270"/>
              <a:ext cx="34453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  <a:latin typeface="Helvetica"/>
                  <a:cs typeface="Helvetica"/>
                </a:rPr>
                <a:t>Kwame Nkrumah University of </a:t>
              </a:r>
            </a:p>
            <a:p>
              <a:r>
                <a:rPr lang="en-US" sz="1400" dirty="0">
                  <a:solidFill>
                    <a:schemeClr val="bg1"/>
                  </a:solidFill>
                  <a:latin typeface="Helvetica"/>
                  <a:cs typeface="Helvetica"/>
                </a:rPr>
                <a:t>Science &amp; Technology, Kumasi, Ghana</a:t>
              </a:r>
            </a:p>
          </p:txBody>
        </p:sp>
        <p:pic>
          <p:nvPicPr>
            <p:cNvPr id="10" name="Picture 9" descr="KNUST_logo Vector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95789" y="157852"/>
              <a:ext cx="491867" cy="625979"/>
            </a:xfrm>
            <a:prstGeom prst="rect">
              <a:avLst/>
            </a:prstGeom>
          </p:spPr>
        </p:pic>
      </p:grp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167738"/>
            <a:ext cx="7772400" cy="1470025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Helvetica"/>
                <a:cs typeface="Helvetica"/>
              </a:rPr>
              <a:t>Title</a:t>
            </a:r>
          </a:p>
        </p:txBody>
      </p:sp>
      <p:sp>
        <p:nvSpPr>
          <p:cNvPr id="1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506" y="4010849"/>
            <a:ext cx="6400800" cy="1599330"/>
          </a:xfrm>
        </p:spPr>
        <p:txBody>
          <a:bodyPr>
            <a:normAutofit/>
          </a:bodyPr>
          <a:lstStyle>
            <a:lvl1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algn="l"/>
            <a:r>
              <a:rPr lang="en-US" b="1" dirty="0">
                <a:solidFill>
                  <a:schemeClr val="tx1"/>
                </a:solidFill>
                <a:latin typeface="Helvetica"/>
                <a:cs typeface="Helvetica"/>
              </a:rPr>
              <a:t>Name</a:t>
            </a:r>
          </a:p>
          <a:p>
            <a:pPr algn="l"/>
            <a:r>
              <a:rPr lang="en-US" sz="2400" b="1" dirty="0">
                <a:latin typeface="Helvetica"/>
                <a:cs typeface="Helvetica"/>
              </a:rPr>
              <a:t>Department</a:t>
            </a:r>
          </a:p>
          <a:p>
            <a:pPr algn="l"/>
            <a:r>
              <a:rPr lang="en-US" sz="2400" b="1" dirty="0">
                <a:latin typeface="Helvetica"/>
                <a:cs typeface="Helvetica"/>
              </a:rPr>
              <a:t>Faculty &amp; College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99C5-06B7-4355-B4F5-C819199CD7F5}" type="datetime1">
              <a:rPr lang="en-US" smtClean="0"/>
              <a:t>3/28/2023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5992943"/>
            <a:ext cx="9144000" cy="865057"/>
            <a:chOff x="0" y="5992943"/>
            <a:chExt cx="9144000" cy="865057"/>
          </a:xfrm>
        </p:grpSpPr>
        <p:sp>
          <p:nvSpPr>
            <p:cNvPr id="8" name="Rectangle 7"/>
            <p:cNvSpPr/>
            <p:nvPr/>
          </p:nvSpPr>
          <p:spPr>
            <a:xfrm>
              <a:off x="0" y="6377674"/>
              <a:ext cx="9144000" cy="48032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0" y="5992943"/>
              <a:ext cx="9144000" cy="363407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 descr="KNUST_logo Vector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7208" y="6021427"/>
              <a:ext cx="205238" cy="283189"/>
            </a:xfrm>
            <a:prstGeom prst="rect">
              <a:avLst/>
            </a:prstGeom>
          </p:spPr>
        </p:pic>
        <p:sp>
          <p:nvSpPr>
            <p:cNvPr id="11" name="TextBox 10">
              <a:hlinkClick r:id="rId3"/>
            </p:cNvPr>
            <p:cNvSpPr txBox="1"/>
            <p:nvPr/>
          </p:nvSpPr>
          <p:spPr>
            <a:xfrm>
              <a:off x="7137936" y="6036146"/>
              <a:ext cx="15488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chemeClr val="bg1"/>
                  </a:solidFill>
                  <a:latin typeface="Helvetica"/>
                  <a:cs typeface="Helvetica"/>
                </a:rPr>
                <a:t>www.knust.edu.gh</a:t>
              </a:r>
              <a:endParaRPr lang="en-US" sz="1200" dirty="0">
                <a:solidFill>
                  <a:schemeClr val="bg1"/>
                </a:solidFill>
                <a:latin typeface="Helvetica"/>
                <a:cs typeface="Helvetica"/>
              </a:endParaRPr>
            </a:p>
          </p:txBody>
        </p:sp>
        <p:pic>
          <p:nvPicPr>
            <p:cNvPr id="12" name="Picture 11">
              <a:hlinkClick r:id="rId4"/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61258" y="6042056"/>
              <a:ext cx="268162" cy="268162"/>
            </a:xfrm>
            <a:prstGeom prst="rect">
              <a:avLst/>
            </a:prstGeom>
          </p:spPr>
        </p:pic>
        <p:pic>
          <p:nvPicPr>
            <p:cNvPr id="13" name="Picture 12">
              <a:hlinkClick r:id="rId6"/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7791" y="6029719"/>
              <a:ext cx="292217" cy="292217"/>
            </a:xfrm>
            <a:prstGeom prst="rect">
              <a:avLst/>
            </a:prstGeom>
          </p:spPr>
        </p:pic>
      </p:grp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>
                <a:solidFill>
                  <a:srgbClr val="008000"/>
                </a:solidFill>
                <a:latin typeface="Helvetica"/>
                <a:cs typeface="Helvetica"/>
              </a:rPr>
              <a:t>Introduction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72E63-5CAB-43A8-A52D-5A7B80F88460}" type="datetime1">
              <a:rPr lang="en-US" smtClean="0"/>
              <a:t>3/28/2023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C36E3-6521-4AAB-978B-065E59BF0A72}" type="datetime1">
              <a:rPr lang="en-US" smtClean="0"/>
              <a:t>3/28/2023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AFB2A-EE05-4B33-B225-96EE3B2AD387}" type="datetime1">
              <a:rPr lang="en-US" smtClean="0"/>
              <a:t>3/28/2023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8DBF1-296A-4E5C-AA9B-C355C0818B11}" type="datetime1">
              <a:rPr lang="en-US" smtClean="0"/>
              <a:t>3/28/2023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1D4A4-D77E-47CB-9C00-B26394124A79}" type="datetime1">
              <a:rPr lang="en-US" smtClean="0"/>
              <a:t>3/28/2023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617F8-A1B2-4A80-8CCE-9F4B70968B01}" type="datetime1">
              <a:rPr lang="en-US" smtClean="0"/>
              <a:t>3/28/2023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A1770-6BBB-4362-8B91-19C04EAE1783}" type="datetime1">
              <a:rPr lang="en-US" smtClean="0"/>
              <a:t>3/28/2023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C2B78-F477-4479-A4D6-4904D1AEA3D9}" type="datetime1">
              <a:rPr lang="en-US" smtClean="0"/>
              <a:t>3/28/2023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77E60-74AE-46E0-BB45-F4DF19A5A2B2}" type="datetime1">
              <a:rPr lang="en-US" smtClean="0"/>
              <a:t>3/28/2023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781696-3E96-4CD1-8584-4952117C965F}" type="datetime1">
              <a:rPr lang="en-US" smtClean="0"/>
              <a:t>3/28/2023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BE2B78-48CC-4165-BE2E-3E9E034B5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1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4BACC19-599C-4F81-A3AE-8BF5D70CFE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053" y="1008185"/>
            <a:ext cx="8889023" cy="461010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OF ENGINEERING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AGRICULTURAL AND BIOSYSTEMS ENGINEERING, KNUST.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EFFECTS OF ORGANIC MANURE AND INORGANIC FERTILIZER ON TOMATO PRODUCTION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©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FDBD5DA-7B67-4527-A335-59EF15317A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506" y="5618285"/>
            <a:ext cx="6400800" cy="1037492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FRIMPONG ELVIS </a:t>
            </a:r>
          </a:p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QUAICOE ANTHONY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655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5A1ACA-A9C0-4CF3-AFD2-234CB8075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8581F5A-FD00-4282-99BA-9EB0DB64E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PRESENTATION OUTLINE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40BD3FF-33B7-4F74-A51F-F1E90B0C8CCB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457200" y="2215663"/>
            <a:ext cx="8686800" cy="2998176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/>
              <a:t>Introduction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/>
              <a:t>Problem Statement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/>
              <a:t>Significance of the study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/>
              <a:t>Aim and Objectives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/>
              <a:t>Literature review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/>
              <a:t>Materials and Methods</a:t>
            </a:r>
          </a:p>
        </p:txBody>
      </p:sp>
    </p:spTree>
    <p:extLst>
      <p:ext uri="{BB962C8B-B14F-4D97-AF65-F5344CB8AC3E}">
        <p14:creationId xmlns:p14="http://schemas.microsoft.com/office/powerpoint/2010/main" val="1247720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ABA5B3-7FEC-42B8-872C-72C9D677C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C210E5-E040-479F-8750-BB890D000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6747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2C45E39-066F-49E5-8BF3-AC152B5B8F77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1211385"/>
            <a:ext cx="8485188" cy="5144965"/>
          </a:xfrm>
        </p:spPr>
        <p:txBody>
          <a:bodyPr/>
          <a:lstStyle/>
          <a:p>
            <a:pPr marL="0" indent="0">
              <a:buClr>
                <a:srgbClr val="FF0000"/>
              </a:buCl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Tomatoes are a popular vegetable consumed worldwide due to their high nutritional value.</a:t>
            </a:r>
          </a:p>
          <a:p>
            <a:pPr marL="0" indent="0">
              <a:buClr>
                <a:srgbClr val="FF0000"/>
              </a:buCl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FF0000"/>
              </a:buClr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Health Benefits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Boost the immune system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 the blood from clothing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good for the human heart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780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444944-C4A2-4DBD-AA8C-154952345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BC0AD05-100C-48F0-85A0-FF0F7E6F68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888024"/>
            <a:ext cx="7772400" cy="106386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2E1BBC9-A579-4908-A682-711363160B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506" y="2563446"/>
            <a:ext cx="7571432" cy="390769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There is low yield in tomato production recently. </a:t>
            </a:r>
          </a:p>
          <a:p>
            <a:r>
              <a:rPr lang="en-US" dirty="0">
                <a:solidFill>
                  <a:schemeClr val="tx1"/>
                </a:solidFill>
              </a:rPr>
              <a:t>This is as a result of inadequate soil nutrients, inadequate soil water supply, inadequate application of fertilizer, etc. </a:t>
            </a:r>
          </a:p>
        </p:txBody>
      </p:sp>
    </p:spTree>
    <p:extLst>
      <p:ext uri="{BB962C8B-B14F-4D97-AF65-F5344CB8AC3E}">
        <p14:creationId xmlns:p14="http://schemas.microsoft.com/office/powerpoint/2010/main" val="4275595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3DED03-5835-458F-96A0-984C74293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5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011DF3A-FE5A-4C25-8FCB-8D2E39230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SIGNIFICANCE OF THE STUDY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897C4AE4-C227-49A9-AD45-CF6C7DE716A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1250463"/>
            <a:ext cx="9213850" cy="5905988"/>
          </a:xfrm>
        </p:spPr>
        <p:txBody>
          <a:bodyPr/>
          <a:lstStyle/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increase the understanding of the effects of organic and inorganic fertilizers on tomato production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help farmers make informed decisions about fertilizer use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promote sustainable agriculture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support food security</a:t>
            </a:r>
          </a:p>
          <a:p>
            <a:pPr>
              <a:buClr>
                <a:srgbClr val="FF0000"/>
              </a:buClr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39757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5D3A4B-DBED-47BA-8F9F-9822198A6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6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CD5ED33-44E8-4C5D-8617-9A3EC8895A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79232"/>
            <a:ext cx="9144000" cy="196792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OBJECTIVE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AD927CE-DAC3-4C2F-8323-04AEF2421D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769577"/>
            <a:ext cx="9144000" cy="1723292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determine the effect of organic and inorganic fertilizers on tomato production.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88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DBEF73-6B4A-4BDD-A919-893F9593C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7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B500063-676C-4686-95C1-4E37A0F37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404394A-3E68-4854-B961-9BDD2BBC636E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1266092"/>
            <a:ext cx="9144000" cy="5591908"/>
          </a:xfrm>
        </p:spPr>
        <p:txBody>
          <a:bodyPr/>
          <a:lstStyle/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 growth rate of tomato plants under different fertilizer treatments.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determine the yield of tomato fruits under different fertilizer treatments.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assess the cost-effectiveness of organic and inorganic fertilizers in tomato production.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recommend the best fertilizer treatment for tomato production based on the findings.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946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4AD753-F2D8-411F-BD6B-327C21AF3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1024ECA-0141-4890-8388-CE87ED93E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E5A44EB-B06E-422F-A2FB-0274B37284E3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1441084"/>
            <a:ext cx="9144000" cy="5440362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TOMATO PRODUCTION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Cultivation practices 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Pest and disease management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 harvest handling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3157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0E0CB4-B3B1-4C6E-8239-472ED2CD8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9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4249AAA-0EFB-47A4-A50E-68CE1F811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CONT’D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51F5EAE-9CB4-4D39-830F-61E0206B9B03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1242646"/>
            <a:ext cx="9144000" cy="561535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ORGANIC MANURE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Organic manure are fertilizers that are naturally produced.</a:t>
            </a:r>
          </a:p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oultry manure (PM), sheep manure, farmyard manure.</a:t>
            </a:r>
          </a:p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Improved Soil Health (</a:t>
            </a:r>
            <a:r>
              <a:rPr lang="da-DK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Dandurand et al. (2018) )</a:t>
            </a: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Reduced Disease Incidence (Silva et al. (2019) </a:t>
            </a: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Improved Nutritional Content (</a:t>
            </a:r>
            <a:r>
              <a:rPr lang="pl-PL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Karami et al. (2017) 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5969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5FC61D-4952-4EA5-8BA3-35E4C180C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10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9C80CC-6681-4802-87FF-EF9F10304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CONT’D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4572FE6-4084-4966-BA83-42245B7CAAD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1101969"/>
            <a:ext cx="9144000" cy="525438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POULTRY MANURE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Nutrient contents 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Organic matter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Microbial activity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Availability</a:t>
            </a:r>
          </a:p>
        </p:txBody>
      </p:sp>
    </p:spTree>
    <p:extLst>
      <p:ext uri="{BB962C8B-B14F-4D97-AF65-F5344CB8AC3E}">
        <p14:creationId xmlns:p14="http://schemas.microsoft.com/office/powerpoint/2010/main" val="3160134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916647-D614-4D06-8A6E-7A7FA0479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11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BD500C-1BF1-4128-B247-8FE25B7E6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6524"/>
            <a:ext cx="8229600" cy="770062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CONT’D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D5BD928-5C5D-4FDD-BEF0-7B857C55F1F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906586"/>
            <a:ext cx="9144000" cy="581489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INORGANIC FERTILIZER</a:t>
            </a:r>
          </a:p>
          <a:p>
            <a:pPr marL="0" indent="0">
              <a:buNone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inorganic fertilizer is made from minerals or synthetic compounds and is generated artificially.</a:t>
            </a:r>
          </a:p>
          <a:p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pPr marL="0" indent="0">
              <a:buNone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Urea and NPK</a:t>
            </a:r>
          </a:p>
          <a:p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 study conducted in Nigeria, researchers found that the use of inorganic fertilizers significantly increased tomato yield compared to non-fertilized plants. The highest yield was obtained from plants treated with NPK (20-10-10) fertilizer.</a:t>
            </a:r>
          </a:p>
        </p:txBody>
      </p:sp>
    </p:spTree>
    <p:extLst>
      <p:ext uri="{BB962C8B-B14F-4D97-AF65-F5344CB8AC3E}">
        <p14:creationId xmlns:p14="http://schemas.microsoft.com/office/powerpoint/2010/main" val="2190214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63769F-4A0C-4DFB-B530-FC9A84924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12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FEABBC-B44C-4098-A6A8-31C57D3D4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75824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MATERIALS AND METHODS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B3E48D4-2422-4216-A220-F4FA49446F3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1774825"/>
            <a:ext cx="9144000" cy="4344988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Poultry manure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NPK fertilizer (20-10-10)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Measuring cup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Tomato seeds 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ower Reno)</a:t>
            </a:r>
          </a:p>
          <a:p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169287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B72269-3D88-4F62-94CD-36CE2DD3B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13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49FEBEB-D06E-4C9C-A033-EAC33519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72123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 Selection</a:t>
            </a:r>
            <a:b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CED8EFE-EF94-4872-B2AB-9BAC5C539B9E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765908"/>
            <a:ext cx="9144000" cy="5152780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experiment will take place in the green house near the Department of Agricultural and Biosystems Engineering in Kwame Nkrumah University of Science and  Technology.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least amount of rainfall of the area is 24 mm which occurs in January and the highest is 153 mm which occurs in September.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temperatures are highest on average in February, at around 27.9 °C and the average lowest temperature occur in July around 24.2 °C.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experiment will be monitored weekly.</a:t>
            </a:r>
          </a:p>
        </p:txBody>
      </p:sp>
    </p:spTree>
    <p:extLst>
      <p:ext uri="{BB962C8B-B14F-4D97-AF65-F5344CB8AC3E}">
        <p14:creationId xmlns:p14="http://schemas.microsoft.com/office/powerpoint/2010/main" val="1887435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D6C8C9-8661-4C3E-8924-6BFF4BC6C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14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F23CB28-3D4C-4CED-A1F2-B343AC0F8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6A0493D-BB99-4401-9D9F-32CC88352EF5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1141046"/>
            <a:ext cx="9144000" cy="5353417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Tomato seeds will be nursed and transplanted after 30 days.</a:t>
            </a:r>
          </a:p>
          <a:p>
            <a:pPr marL="0" indent="0">
              <a:buClr>
                <a:srgbClr val="FF0000"/>
              </a:buClr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24 tomato plants will be planted. 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tomato plants will planted with organic manure 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with inorganic fertilizer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with a mixture of organic manure and inorganic fertilizer 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will planted with no fertilizer. </a:t>
            </a:r>
          </a:p>
        </p:txBody>
      </p:sp>
    </p:spTree>
    <p:extLst>
      <p:ext uri="{BB962C8B-B14F-4D97-AF65-F5344CB8AC3E}">
        <p14:creationId xmlns:p14="http://schemas.microsoft.com/office/powerpoint/2010/main" val="3996882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A7793F-3B65-4DD9-A266-0FDA00505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15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8448853-9D87-4ECF-9DB0-82DC2E2CA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6902717-966B-4C14-81CA-73E948AA3F34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1797050"/>
            <a:ext cx="9090025" cy="4251325"/>
          </a:xfrm>
        </p:spPr>
        <p:txBody>
          <a:bodyPr/>
          <a:lstStyle/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Plant height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Plant width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First flower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First fruit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Number of leaves 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Fruit size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Volume of inorganic fertilizer used</a:t>
            </a:r>
          </a:p>
        </p:txBody>
      </p:sp>
    </p:spTree>
    <p:extLst>
      <p:ext uri="{BB962C8B-B14F-4D97-AF65-F5344CB8AC3E}">
        <p14:creationId xmlns:p14="http://schemas.microsoft.com/office/powerpoint/2010/main" val="1840060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875F2F-7DFF-47B9-8740-AA6FCBA8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16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4070CFB-D140-49E1-9E67-B84CB364B5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4136962-9C6B-41BD-89AB-ADC56495C9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7496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D8B202-F786-4697-8229-E2C764F18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17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2F1D71-BCA1-4249-A494-4E87BB08B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008562"/>
          </a:xfrm>
        </p:spPr>
        <p:txBody>
          <a:bodyPr/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THANK YOU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1455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270</TotalTime>
  <Words>581</Words>
  <Application>Microsoft Office PowerPoint</Application>
  <PresentationFormat>On-screen Show (4:3)</PresentationFormat>
  <Paragraphs>111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Helvetica</vt:lpstr>
      <vt:lpstr>Times New Roman</vt:lpstr>
      <vt:lpstr>Wingdings</vt:lpstr>
      <vt:lpstr>Office Theme</vt:lpstr>
      <vt:lpstr>COLLEGE OF ENGINEERING DEPARTMENT OF AGRICULTURAL AND BIOSYSTEMS ENGINEERING, KNUST.      EFFECTS OF ORGANIC MANURE AND INORGANIC FERTILIZER ON TOMATO PRODUCTION  ©</vt:lpstr>
      <vt:lpstr>PRESENTATION OUTLINE  </vt:lpstr>
      <vt:lpstr>INTRODUCTION</vt:lpstr>
      <vt:lpstr>PROBLEM STATEMENT</vt:lpstr>
      <vt:lpstr>SIGNIFICANCE OF THE STUDY</vt:lpstr>
      <vt:lpstr>MAIN OBJECTIVE</vt:lpstr>
      <vt:lpstr>SPECIFIC OBJECTIVES</vt:lpstr>
      <vt:lpstr>LITERATURE REVIEW</vt:lpstr>
      <vt:lpstr>LITERATURE REVIEW CONT’D</vt:lpstr>
      <vt:lpstr>LITERATURE REVIEW CONT’D</vt:lpstr>
      <vt:lpstr>LITERATURE REVIEW CONT’D</vt:lpstr>
      <vt:lpstr>MATERIALS AND METHODS</vt:lpstr>
      <vt:lpstr>Site Selection </vt:lpstr>
      <vt:lpstr>METHODS</vt:lpstr>
      <vt:lpstr>DATA COLLECTION</vt:lpstr>
      <vt:lpstr>DATA ANALYSIS</vt:lpstr>
      <vt:lpstr>   THANK YOU </vt:lpstr>
    </vt:vector>
  </TitlesOfParts>
  <Company>UPK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KNUST Press</dc:creator>
  <cp:lastModifiedBy>Elvis</cp:lastModifiedBy>
  <cp:revision>1704</cp:revision>
  <dcterms:created xsi:type="dcterms:W3CDTF">2016-11-07T15:28:00Z</dcterms:created>
  <dcterms:modified xsi:type="dcterms:W3CDTF">2023-03-28T17:48:20Z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31A012AC64CA442EB7FA01B239DEC633</vt:lpwstr>
  </property>
  <property fmtid="{D5CDD505-2E9C-101B-9397-08002B2CF9AE}" pid="3" name="KSOProductBuildVer">
    <vt:lpwstr>1033-11.2.0.11498</vt:lpwstr>
  </property>
</Properties>
</file>